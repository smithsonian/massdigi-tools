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5" r:id="rId2"/>
    <p:sldId id="256" r:id="rId3"/>
    <p:sldId id="260" r:id="rId4"/>
    <p:sldId id="258" r:id="rId5"/>
    <p:sldId id="261" r:id="rId6"/>
    <p:sldId id="259" r:id="rId7"/>
    <p:sldId id="263" r:id="rId8"/>
    <p:sldId id="266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3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1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1308" y="-18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4E622-B7BE-4E84-90E8-7FC23BD9B0E2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2F3EE-0BB3-4F17-98ED-8A86704D3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5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F3EE-0BB3-4F17-98ED-8A86704D35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5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F3EE-0BB3-4F17-98ED-8A86704D35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7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F3EE-0BB3-4F17-98ED-8A86704D35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5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DPO can deliver in 24 </a:t>
            </a:r>
            <a:r>
              <a:rPr lang="en-US" dirty="0" err="1"/>
              <a:t>hrs</a:t>
            </a:r>
            <a:endParaRPr lang="en-US" dirty="0"/>
          </a:p>
          <a:p>
            <a:endParaRPr lang="en-US" dirty="0"/>
          </a:p>
          <a:p>
            <a:r>
              <a:rPr lang="en-US" dirty="0"/>
              <a:t>Hydra:</a:t>
            </a:r>
          </a:p>
          <a:p>
            <a:r>
              <a:rPr lang="en-US" dirty="0"/>
              <a:t> - Sync between nearline and working: 36 mins</a:t>
            </a:r>
          </a:p>
          <a:p>
            <a:r>
              <a:rPr lang="en-US" dirty="0"/>
              <a:t> - Osprey: 10 mins</a:t>
            </a:r>
          </a:p>
          <a:p>
            <a:endParaRPr lang="en-US" dirty="0"/>
          </a:p>
          <a:p>
            <a:r>
              <a:rPr lang="en-US" dirty="0"/>
              <a:t>Limiting factors:</a:t>
            </a:r>
          </a:p>
          <a:p>
            <a:r>
              <a:rPr lang="en-US" dirty="0"/>
              <a:t> - Parallel stations by vendor</a:t>
            </a:r>
          </a:p>
          <a:p>
            <a:r>
              <a:rPr lang="en-US" dirty="0"/>
              <a:t> - QC by archivists</a:t>
            </a:r>
          </a:p>
          <a:p>
            <a:r>
              <a:rPr lang="en-US" dirty="0"/>
              <a:t> - DAMS ingest, can be reduced</a:t>
            </a:r>
          </a:p>
          <a:p>
            <a:r>
              <a:rPr lang="en-US" dirty="0"/>
              <a:t> - Hydra speed can be increased</a:t>
            </a:r>
          </a:p>
          <a:p>
            <a:endParaRPr lang="en-US" dirty="0"/>
          </a:p>
          <a:p>
            <a:r>
              <a:rPr lang="en-US" dirty="0"/>
              <a:t>What estimates we don’t have?</a:t>
            </a:r>
          </a:p>
          <a:p>
            <a:r>
              <a:rPr lang="en-US" dirty="0"/>
              <a:t> - Archive processing</a:t>
            </a:r>
          </a:p>
          <a:p>
            <a:r>
              <a:rPr lang="en-US" dirty="0"/>
              <a:t> - Surfacing of images via IIIF</a:t>
            </a:r>
          </a:p>
          <a:p>
            <a:r>
              <a:rPr lang="en-US" dirty="0"/>
              <a:t> - Andrew sending IIIF IDs to ID Manager</a:t>
            </a:r>
          </a:p>
          <a:p>
            <a:r>
              <a:rPr lang="en-US" dirty="0"/>
              <a:t> - Loading data to RCV, which is a manual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F3EE-0BB3-4F17-98ED-8A86704D35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60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DPO can deliver in 24 </a:t>
            </a:r>
            <a:r>
              <a:rPr lang="en-US" dirty="0" err="1"/>
              <a:t>hrs</a:t>
            </a:r>
            <a:endParaRPr lang="en-US" dirty="0"/>
          </a:p>
          <a:p>
            <a:endParaRPr lang="en-US" dirty="0"/>
          </a:p>
          <a:p>
            <a:r>
              <a:rPr lang="en-US" dirty="0"/>
              <a:t>Hydra:</a:t>
            </a:r>
          </a:p>
          <a:p>
            <a:r>
              <a:rPr lang="en-US" dirty="0"/>
              <a:t> - Sync between nearline and working: 36 mins</a:t>
            </a:r>
          </a:p>
          <a:p>
            <a:r>
              <a:rPr lang="en-US" dirty="0"/>
              <a:t> - Osprey: </a:t>
            </a:r>
          </a:p>
          <a:p>
            <a:endParaRPr lang="en-US" dirty="0"/>
          </a:p>
          <a:p>
            <a:r>
              <a:rPr lang="en-US" dirty="0"/>
              <a:t>Limiting factors:</a:t>
            </a:r>
          </a:p>
          <a:p>
            <a:r>
              <a:rPr lang="en-US" dirty="0"/>
              <a:t> - Parallel stations by vendor</a:t>
            </a:r>
          </a:p>
          <a:p>
            <a:r>
              <a:rPr lang="en-US" dirty="0"/>
              <a:t> - QC by archivists</a:t>
            </a:r>
          </a:p>
          <a:p>
            <a:r>
              <a:rPr lang="en-US" dirty="0"/>
              <a:t> - DAMS ingest, can be reduced</a:t>
            </a:r>
          </a:p>
          <a:p>
            <a:r>
              <a:rPr lang="en-US" dirty="0"/>
              <a:t> - Hydra speed can be increased</a:t>
            </a:r>
          </a:p>
          <a:p>
            <a:endParaRPr lang="en-US" dirty="0"/>
          </a:p>
          <a:p>
            <a:r>
              <a:rPr lang="en-US" dirty="0"/>
              <a:t>What estimates we don’t have?</a:t>
            </a:r>
          </a:p>
          <a:p>
            <a:r>
              <a:rPr lang="en-US" dirty="0"/>
              <a:t> - Archive processing</a:t>
            </a:r>
          </a:p>
          <a:p>
            <a:r>
              <a:rPr lang="en-US" dirty="0"/>
              <a:t> - Surfacing of images via IIIF</a:t>
            </a:r>
          </a:p>
          <a:p>
            <a:r>
              <a:rPr lang="en-US" dirty="0"/>
              <a:t> - Andrew sending IIIF IDs to ID Manager</a:t>
            </a:r>
          </a:p>
          <a:p>
            <a:r>
              <a:rPr lang="en-US" dirty="0"/>
              <a:t> - Loading data to RCV, which is a manual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F3EE-0BB3-4F17-98ED-8A86704D35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4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1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29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4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0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6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5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5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1608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94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27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59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15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2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B34A369-F428-4BDF-9A84-AC9728252FC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B692FBD-BFB8-4C7A-8345-C89B5DFE6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26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051625-15CA-86B4-A8BE-2F5413E0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91" y="0"/>
            <a:ext cx="11236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1AE658-44A6-293A-EFD4-3CFD14B7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DPO Work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191DC7-2634-B0AE-B2AA-A5B43ACAC219}"/>
              </a:ext>
            </a:extLst>
          </p:cNvPr>
          <p:cNvGrpSpPr/>
          <p:nvPr/>
        </p:nvGrpSpPr>
        <p:grpSpPr>
          <a:xfrm>
            <a:off x="601133" y="4909871"/>
            <a:ext cx="11106662" cy="1083951"/>
            <a:chOff x="601133" y="3589070"/>
            <a:chExt cx="11106662" cy="108395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1A5D1D-9A09-DA8B-87CB-72BBEDF60915}"/>
                </a:ext>
              </a:extLst>
            </p:cNvPr>
            <p:cNvCxnSpPr/>
            <p:nvPr/>
          </p:nvCxnSpPr>
          <p:spPr>
            <a:xfrm>
              <a:off x="618067" y="3606800"/>
              <a:ext cx="1097280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F8F806-0385-4AD8-75D4-0EC32DC26FB7}"/>
                </a:ext>
              </a:extLst>
            </p:cNvPr>
            <p:cNvSpPr txBox="1"/>
            <p:nvPr/>
          </p:nvSpPr>
          <p:spPr>
            <a:xfrm rot="5400000">
              <a:off x="263156" y="3944777"/>
              <a:ext cx="1045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Feb 2023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C98932-D94B-E6C5-E204-FD222861A3CC}"/>
                </a:ext>
              </a:extLst>
            </p:cNvPr>
            <p:cNvSpPr txBox="1"/>
            <p:nvPr/>
          </p:nvSpPr>
          <p:spPr>
            <a:xfrm rot="5400000">
              <a:off x="2051930" y="3944777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Apr 2023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12EC79-AB9A-21FA-19C8-1BAF02543822}"/>
                </a:ext>
              </a:extLst>
            </p:cNvPr>
            <p:cNvSpPr txBox="1"/>
            <p:nvPr/>
          </p:nvSpPr>
          <p:spPr>
            <a:xfrm rot="5400000">
              <a:off x="3914946" y="3942469"/>
              <a:ext cx="1023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Jun 2023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E6C887-6F64-8545-0D58-F0071EE2D95E}"/>
                </a:ext>
              </a:extLst>
            </p:cNvPr>
            <p:cNvSpPr txBox="1"/>
            <p:nvPr/>
          </p:nvSpPr>
          <p:spPr>
            <a:xfrm rot="5400000">
              <a:off x="5745902" y="3953593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Aug 2023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FDF898-63C9-6AFF-4845-75E2264B0FC3}"/>
                </a:ext>
              </a:extLst>
            </p:cNvPr>
            <p:cNvSpPr txBox="1"/>
            <p:nvPr/>
          </p:nvSpPr>
          <p:spPr>
            <a:xfrm rot="5400000">
              <a:off x="7618535" y="3953593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Oct 2023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E4D347-6F9D-A74D-CE12-F059F332D9CA}"/>
                </a:ext>
              </a:extLst>
            </p:cNvPr>
            <p:cNvSpPr txBox="1"/>
            <p:nvPr/>
          </p:nvSpPr>
          <p:spPr>
            <a:xfrm rot="5400000">
              <a:off x="9390575" y="3935159"/>
              <a:ext cx="1061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 2023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1BEBD-53C2-0AD3-5DD4-A76C9DF5995C}"/>
                </a:ext>
              </a:extLst>
            </p:cNvPr>
            <p:cNvSpPr txBox="1"/>
            <p:nvPr/>
          </p:nvSpPr>
          <p:spPr>
            <a:xfrm rot="5400000">
              <a:off x="11000486" y="3965712"/>
              <a:ext cx="1045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Feb 2024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194556-5CB2-15C9-2858-8A31E5AC6399}"/>
              </a:ext>
            </a:extLst>
          </p:cNvPr>
          <p:cNvGrpSpPr/>
          <p:nvPr/>
        </p:nvGrpSpPr>
        <p:grpSpPr>
          <a:xfrm>
            <a:off x="785799" y="3091331"/>
            <a:ext cx="474079" cy="1781692"/>
            <a:chOff x="785799" y="1647308"/>
            <a:chExt cx="474079" cy="178169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66003D-C941-0FA7-3968-B9AD5C03ABC3}"/>
                </a:ext>
              </a:extLst>
            </p:cNvPr>
            <p:cNvCxnSpPr/>
            <p:nvPr/>
          </p:nvCxnSpPr>
          <p:spPr>
            <a:xfrm>
              <a:off x="785799" y="2870200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B75B2F-25A3-4E30-E07C-5FDD94D8C18A}"/>
                </a:ext>
              </a:extLst>
            </p:cNvPr>
            <p:cNvSpPr txBox="1"/>
            <p:nvPr/>
          </p:nvSpPr>
          <p:spPr>
            <a:xfrm rot="18751742">
              <a:off x="423334" y="2145298"/>
              <a:ext cx="133453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Meeting in LA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7B65B8-7AC5-D0CB-F650-B80D89F3A71E}"/>
              </a:ext>
            </a:extLst>
          </p:cNvPr>
          <p:cNvCxnSpPr/>
          <p:nvPr/>
        </p:nvCxnSpPr>
        <p:spPr>
          <a:xfrm>
            <a:off x="3829272" y="4293869"/>
            <a:ext cx="0" cy="55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908807-027A-6CBD-9CC0-4552A90D3161}"/>
              </a:ext>
            </a:extLst>
          </p:cNvPr>
          <p:cNvSpPr txBox="1"/>
          <p:nvPr/>
        </p:nvSpPr>
        <p:spPr>
          <a:xfrm rot="18751742">
            <a:off x="3642992" y="3420312"/>
            <a:ext cx="233653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PrePilot</a:t>
            </a:r>
            <a:r>
              <a:rPr lang="en-US" sz="1600" dirty="0"/>
              <a:t> Data Delivered to</a:t>
            </a:r>
          </a:p>
          <a:p>
            <a:r>
              <a:rPr lang="en-US" sz="1600" dirty="0"/>
              <a:t>ID Manager/Arches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19FCED-F2BD-0D90-FAA2-6B0EBFF9609D}"/>
              </a:ext>
            </a:extLst>
          </p:cNvPr>
          <p:cNvGrpSpPr/>
          <p:nvPr/>
        </p:nvGrpSpPr>
        <p:grpSpPr>
          <a:xfrm>
            <a:off x="8082489" y="2238846"/>
            <a:ext cx="597190" cy="2534316"/>
            <a:chOff x="8082489" y="2238846"/>
            <a:chExt cx="597190" cy="253431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0331C18-A332-B4EC-D511-1B3CBC1F7273}"/>
                </a:ext>
              </a:extLst>
            </p:cNvPr>
            <p:cNvCxnSpPr/>
            <p:nvPr/>
          </p:nvCxnSpPr>
          <p:spPr>
            <a:xfrm>
              <a:off x="8082489" y="4214362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8CF87D-F3D5-C207-02FC-8AE1F6C2D5FA}"/>
                </a:ext>
              </a:extLst>
            </p:cNvPr>
            <p:cNvSpPr txBox="1"/>
            <p:nvPr/>
          </p:nvSpPr>
          <p:spPr>
            <a:xfrm rot="18751742">
              <a:off x="7297602" y="3036148"/>
              <a:ext cx="2179379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Meeting in DC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/>
                <a:t>PrePilot</a:t>
              </a:r>
              <a:r>
                <a:rPr lang="en-US" sz="1600" dirty="0"/>
                <a:t> Abandoned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22C515-F7A8-2C06-90F1-884AE23E8760}"/>
              </a:ext>
            </a:extLst>
          </p:cNvPr>
          <p:cNvGrpSpPr/>
          <p:nvPr/>
        </p:nvGrpSpPr>
        <p:grpSpPr>
          <a:xfrm>
            <a:off x="7008278" y="2686068"/>
            <a:ext cx="597195" cy="2089636"/>
            <a:chOff x="7008278" y="2686068"/>
            <a:chExt cx="597195" cy="208963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FAA85A5-7FAA-01A6-57BF-B5E1DB2932FE}"/>
                </a:ext>
              </a:extLst>
            </p:cNvPr>
            <p:cNvCxnSpPr/>
            <p:nvPr/>
          </p:nvCxnSpPr>
          <p:spPr>
            <a:xfrm>
              <a:off x="7008278" y="4216904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5FD53B-DD1B-E27B-55AE-08D5DFB3CD00}"/>
                </a:ext>
              </a:extLst>
            </p:cNvPr>
            <p:cNvSpPr txBox="1"/>
            <p:nvPr/>
          </p:nvSpPr>
          <p:spPr>
            <a:xfrm rot="18751742">
              <a:off x="6447945" y="3258821"/>
              <a:ext cx="1730282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Getty Notice IDs </a:t>
              </a:r>
            </a:p>
            <a:p>
              <a:r>
                <a:rPr lang="en-US" sz="1600" dirty="0"/>
                <a:t>   in Wrong Format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14C759-A8CD-5E0C-4536-DEC52343B47F}"/>
              </a:ext>
            </a:extLst>
          </p:cNvPr>
          <p:cNvGrpSpPr/>
          <p:nvPr/>
        </p:nvGrpSpPr>
        <p:grpSpPr>
          <a:xfrm>
            <a:off x="8577957" y="2575995"/>
            <a:ext cx="474087" cy="2197318"/>
            <a:chOff x="785799" y="1231682"/>
            <a:chExt cx="474087" cy="219731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C89C53B-D9F0-BA39-59F0-EDB722995AB3}"/>
                </a:ext>
              </a:extLst>
            </p:cNvPr>
            <p:cNvCxnSpPr/>
            <p:nvPr/>
          </p:nvCxnSpPr>
          <p:spPr>
            <a:xfrm>
              <a:off x="785799" y="2870200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46FD083-85C4-0282-CB7E-B4EF731D7015}"/>
                </a:ext>
              </a:extLst>
            </p:cNvPr>
            <p:cNvSpPr txBox="1"/>
            <p:nvPr/>
          </p:nvSpPr>
          <p:spPr>
            <a:xfrm rot="18751742">
              <a:off x="7716" y="2145298"/>
              <a:ext cx="2165786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 Archival Items Loaded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F529A68-C2BE-76BD-ACE5-07F5F297D70A}"/>
              </a:ext>
            </a:extLst>
          </p:cNvPr>
          <p:cNvGrpSpPr/>
          <p:nvPr/>
        </p:nvGrpSpPr>
        <p:grpSpPr>
          <a:xfrm>
            <a:off x="9698627" y="2472697"/>
            <a:ext cx="474084" cy="2336922"/>
            <a:chOff x="785799" y="1146114"/>
            <a:chExt cx="474084" cy="233692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C6725C8-0CD8-3899-D081-76B4546FB380}"/>
                </a:ext>
              </a:extLst>
            </p:cNvPr>
            <p:cNvCxnSpPr/>
            <p:nvPr/>
          </p:nvCxnSpPr>
          <p:spPr>
            <a:xfrm>
              <a:off x="785799" y="2870200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ECE7BD-F1B3-236A-5D5F-B7225CFBABD1}"/>
                </a:ext>
              </a:extLst>
            </p:cNvPr>
            <p:cNvSpPr txBox="1"/>
            <p:nvPr/>
          </p:nvSpPr>
          <p:spPr>
            <a:xfrm rot="18751742">
              <a:off x="-77855" y="2145298"/>
              <a:ext cx="2336922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 Archival Items Reloaded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5503CF-EDF2-C369-E920-CB86487FCD7E}"/>
              </a:ext>
            </a:extLst>
          </p:cNvPr>
          <p:cNvCxnSpPr/>
          <p:nvPr/>
        </p:nvCxnSpPr>
        <p:spPr>
          <a:xfrm>
            <a:off x="11126473" y="4162743"/>
            <a:ext cx="0" cy="55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E3CCAEA-5CD6-3906-12F7-F7480E849367}"/>
              </a:ext>
            </a:extLst>
          </p:cNvPr>
          <p:cNvSpPr txBox="1"/>
          <p:nvPr/>
        </p:nvSpPr>
        <p:spPr>
          <a:xfrm rot="18751742">
            <a:off x="9811768" y="3423904"/>
            <a:ext cx="251761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All Pilot Loaded</a:t>
            </a:r>
          </a:p>
          <a:p>
            <a:r>
              <a:rPr lang="en-US" sz="1600" dirty="0"/>
              <a:t>   to </a:t>
            </a:r>
            <a:r>
              <a:rPr lang="en-US" sz="1600" dirty="0" err="1"/>
              <a:t>IDManager</a:t>
            </a:r>
            <a:r>
              <a:rPr lang="en-US" sz="1600" dirty="0"/>
              <a:t>/Arches (x2)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EEE3C92-50E3-8257-1EEB-57684D782EC8}"/>
              </a:ext>
            </a:extLst>
          </p:cNvPr>
          <p:cNvGrpSpPr/>
          <p:nvPr/>
        </p:nvGrpSpPr>
        <p:grpSpPr>
          <a:xfrm>
            <a:off x="7696953" y="679440"/>
            <a:ext cx="474081" cy="2037627"/>
            <a:chOff x="785799" y="1391373"/>
            <a:chExt cx="474081" cy="203762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385CCF1-8A8E-8328-B7AA-BB4793046CE1}"/>
                </a:ext>
              </a:extLst>
            </p:cNvPr>
            <p:cNvCxnSpPr/>
            <p:nvPr/>
          </p:nvCxnSpPr>
          <p:spPr>
            <a:xfrm>
              <a:off x="785799" y="2870200"/>
              <a:ext cx="0" cy="558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27CF77-8A7C-44FA-6051-1B1EFEF8BD3B}"/>
                </a:ext>
              </a:extLst>
            </p:cNvPr>
            <p:cNvSpPr txBox="1"/>
            <p:nvPr/>
          </p:nvSpPr>
          <p:spPr>
            <a:xfrm rot="18751742">
              <a:off x="167401" y="2145298"/>
              <a:ext cx="1846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RCV Made Available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8557CA7-24E6-405B-91C1-B33EE45D43AB}"/>
              </a:ext>
            </a:extLst>
          </p:cNvPr>
          <p:cNvSpPr txBox="1"/>
          <p:nvPr/>
        </p:nvSpPr>
        <p:spPr>
          <a:xfrm>
            <a:off x="1505059" y="1484104"/>
            <a:ext cx="3296774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 </a:t>
            </a:r>
            <a:r>
              <a:rPr lang="en-US" dirty="0" err="1"/>
              <a:t>ASpace</a:t>
            </a:r>
            <a:r>
              <a:rPr lang="en-US" dirty="0"/>
              <a:t>, ID Manager, Arches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Design/code ID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and Save </a:t>
            </a:r>
            <a:r>
              <a:rPr lang="en-US" dirty="0" err="1"/>
              <a:t>PrePilot</a:t>
            </a:r>
            <a:r>
              <a:rPr lang="en-US" dirty="0"/>
              <a:t> Test Images to DAMS</a:t>
            </a: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3EFC2439-B1EF-6BA9-1150-DFEAFD975B47}"/>
              </a:ext>
            </a:extLst>
          </p:cNvPr>
          <p:cNvSpPr/>
          <p:nvPr/>
        </p:nvSpPr>
        <p:spPr>
          <a:xfrm rot="5400000" flipV="1">
            <a:off x="2218028" y="2542395"/>
            <a:ext cx="545900" cy="197183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467A01-4A54-5448-0B28-518B894117C2}"/>
              </a:ext>
            </a:extLst>
          </p:cNvPr>
          <p:cNvGrpSpPr/>
          <p:nvPr/>
        </p:nvGrpSpPr>
        <p:grpSpPr>
          <a:xfrm>
            <a:off x="5983091" y="5799798"/>
            <a:ext cx="1872972" cy="947776"/>
            <a:chOff x="5983091" y="5799798"/>
            <a:chExt cx="1872972" cy="94777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61D612B-51B3-955B-CAC4-279D244443AC}"/>
                </a:ext>
              </a:extLst>
            </p:cNvPr>
            <p:cNvSpPr txBox="1"/>
            <p:nvPr/>
          </p:nvSpPr>
          <p:spPr>
            <a:xfrm>
              <a:off x="6070963" y="6378242"/>
              <a:ext cx="1785100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Pilot Digitization</a:t>
              </a:r>
            </a:p>
          </p:txBody>
        </p:sp>
        <p:sp>
          <p:nvSpPr>
            <p:cNvPr id="53" name="Left Brace 52">
              <a:extLst>
                <a:ext uri="{FF2B5EF4-FFF2-40B4-BE49-F238E27FC236}">
                  <a16:creationId xmlns:a16="http://schemas.microsoft.com/office/drawing/2014/main" id="{875CD92E-842C-8B83-20ED-5AA14AC9CAA3}"/>
                </a:ext>
              </a:extLst>
            </p:cNvPr>
            <p:cNvSpPr/>
            <p:nvPr/>
          </p:nvSpPr>
          <p:spPr>
            <a:xfrm rot="16200000" flipV="1">
              <a:off x="6586419" y="5196470"/>
              <a:ext cx="578444" cy="1785100"/>
            </a:xfrm>
            <a:prstGeom prst="lef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1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2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9FCEC-4611-4273-C4D1-4A4AF153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Turnaround by DPO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62744-77A0-B0B5-694C-260B655D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Feb 8 – DPO detects an error in the sequence of items</a:t>
            </a:r>
          </a:p>
          <a:p>
            <a:pPr lvl="1"/>
            <a:r>
              <a:rPr lang="en-US" sz="2800" dirty="0"/>
              <a:t>“Item 0001 [appears as] item 8 in the folder” – Luis in Slack</a:t>
            </a:r>
          </a:p>
          <a:p>
            <a:pPr lvl="1"/>
            <a:r>
              <a:rPr lang="en-US" sz="2800" dirty="0"/>
              <a:t>Diagnosed within minutes of detecting issue</a:t>
            </a:r>
          </a:p>
          <a:p>
            <a:pPr lvl="1"/>
            <a:r>
              <a:rPr lang="en-US" sz="2800" dirty="0"/>
              <a:t>Error due to an </a:t>
            </a:r>
            <a:r>
              <a:rPr lang="en-US" sz="2800" dirty="0" err="1"/>
              <a:t>autosorting</a:t>
            </a:r>
            <a:r>
              <a:rPr lang="en-US" sz="2800" dirty="0"/>
              <a:t> statement in the query</a:t>
            </a:r>
          </a:p>
          <a:p>
            <a:r>
              <a:rPr lang="en-US" sz="3200" dirty="0"/>
              <a:t>Feb 13 – DPO loads all ID’s with the correct sequence</a:t>
            </a:r>
          </a:p>
          <a:p>
            <a:pPr lvl="1"/>
            <a:r>
              <a:rPr lang="en-US" sz="2800" dirty="0"/>
              <a:t>50,100 IDs to ID Manager</a:t>
            </a:r>
          </a:p>
          <a:p>
            <a:pPr lvl="1"/>
            <a:r>
              <a:rPr lang="en-US" sz="2800" dirty="0"/>
              <a:t>25,050 Records to Arches</a:t>
            </a:r>
          </a:p>
          <a:p>
            <a:r>
              <a:rPr lang="en-US" sz="3200" dirty="0"/>
              <a:t>2 business days</a:t>
            </a:r>
          </a:p>
        </p:txBody>
      </p:sp>
    </p:spTree>
    <p:extLst>
      <p:ext uri="{BB962C8B-B14F-4D97-AF65-F5344CB8AC3E}">
        <p14:creationId xmlns:p14="http://schemas.microsoft.com/office/powerpoint/2010/main" val="87104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556A-8EA2-DF35-AB03-B53B030B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“Slow”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BBEC-96AC-2798-2BDE-EE4E3EC0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Explained in meetings: </a:t>
            </a:r>
          </a:p>
          <a:p>
            <a:pPr lvl="1"/>
            <a:r>
              <a:rPr lang="en-US" sz="3200" dirty="0"/>
              <a:t>Feb 6, JPC Tech Working Group </a:t>
            </a:r>
          </a:p>
          <a:p>
            <a:pPr lvl="2"/>
            <a:r>
              <a:rPr lang="en-US" sz="2800" dirty="0"/>
              <a:t>Jeanine explained; Isabel and Andrew present</a:t>
            </a:r>
          </a:p>
          <a:p>
            <a:pPr lvl="1"/>
            <a:r>
              <a:rPr lang="en-US" sz="3200" dirty="0"/>
              <a:t>Feb 12 meeting (organized by Michelle) </a:t>
            </a:r>
          </a:p>
          <a:p>
            <a:pPr lvl="2"/>
            <a:r>
              <a:rPr lang="en-US" sz="2800" dirty="0"/>
              <a:t>Luis explained; Andrew present</a:t>
            </a:r>
          </a:p>
          <a:p>
            <a:r>
              <a:rPr lang="en-US" sz="3600" dirty="0"/>
              <a:t>SI -&gt; Getty process changed at least 4x by Getty</a:t>
            </a:r>
          </a:p>
          <a:p>
            <a:pPr lvl="1"/>
            <a:r>
              <a:rPr lang="en-US" sz="3200" dirty="0"/>
              <a:t>Kept scripts simple to reduce time in edits</a:t>
            </a:r>
          </a:p>
        </p:txBody>
      </p:sp>
    </p:spTree>
    <p:extLst>
      <p:ext uri="{BB962C8B-B14F-4D97-AF65-F5344CB8AC3E}">
        <p14:creationId xmlns:p14="http://schemas.microsoft.com/office/powerpoint/2010/main" val="123011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556A-8EA2-DF35-AB03-B53B030B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“Slow” Script Estimates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BBEC-96AC-2798-2BDE-EE4E3EC0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ID’s of 25k images to ID Manager </a:t>
            </a:r>
            <a:r>
              <a:rPr lang="en-US" sz="3200" dirty="0"/>
              <a:t>(50k IDs)</a:t>
            </a:r>
            <a:r>
              <a:rPr lang="en-US" sz="3600" dirty="0"/>
              <a:t>:</a:t>
            </a:r>
          </a:p>
          <a:p>
            <a:pPr lvl="1"/>
            <a:r>
              <a:rPr lang="en-US" sz="3200" dirty="0"/>
              <a:t>X4: 74 mins</a:t>
            </a:r>
          </a:p>
          <a:p>
            <a:pPr lvl="1"/>
            <a:r>
              <a:rPr lang="en-US" sz="3200" dirty="0"/>
              <a:t>X8: 37 mins</a:t>
            </a:r>
          </a:p>
          <a:p>
            <a:pPr lvl="1"/>
            <a:r>
              <a:rPr lang="en-US" sz="3200" dirty="0"/>
              <a:t>X16: 19 mins</a:t>
            </a:r>
          </a:p>
          <a:p>
            <a:endParaRPr lang="en-US" dirty="0"/>
          </a:p>
          <a:p>
            <a:r>
              <a:rPr lang="en-US" sz="3200" b="1" dirty="0"/>
              <a:t>Not applicable</a:t>
            </a:r>
            <a:r>
              <a:rPr lang="en-US" sz="3200" dirty="0"/>
              <a:t> for Pilot/Production</a:t>
            </a:r>
          </a:p>
          <a:p>
            <a:pPr lvl="1"/>
            <a:r>
              <a:rPr lang="en-US" sz="2800" dirty="0"/>
              <a:t>Reload of all Pilot data</a:t>
            </a:r>
          </a:p>
        </p:txBody>
      </p:sp>
    </p:spTree>
    <p:extLst>
      <p:ext uri="{BB962C8B-B14F-4D97-AF65-F5344CB8AC3E}">
        <p14:creationId xmlns:p14="http://schemas.microsoft.com/office/powerpoint/2010/main" val="213286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821E-742B-CBBD-40B9-23D593C9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Estimates for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476C-1F82-4BCE-E65B-ECD71C9B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1k images/day </a:t>
            </a:r>
            <a:r>
              <a:rPr lang="en-US" sz="3200" dirty="0"/>
              <a:t>(~160GB)</a:t>
            </a:r>
            <a:r>
              <a:rPr lang="en-US" sz="3600" dirty="0"/>
              <a:t>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from vendor to HDC 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(~40MB/sec)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70 mins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to Hydra 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(limited to 20MB/sec)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140 mins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Ingest to Osprey 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 Hydra using 32 cores)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10 mins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QC by archivists: variable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to DAMS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hotfolder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(~65MB/sec): 35 mins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ID’s in ID Manager/Arches: 20 mins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manual step, to automate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14945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821E-742B-CBBD-40B9-23D593C9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476C-1F82-4BCE-E65B-ECD71C9B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DPO can deliver in &lt; 5 </a:t>
            </a:r>
            <a:r>
              <a:rPr lang="en-US" sz="3200" dirty="0" err="1"/>
              <a:t>hrs</a:t>
            </a:r>
            <a:endParaRPr lang="en-US" sz="3200" dirty="0"/>
          </a:p>
          <a:p>
            <a:pPr lvl="1"/>
            <a:r>
              <a:rPr lang="en-US" sz="2800" dirty="0"/>
              <a:t>Visual QC not included</a:t>
            </a:r>
          </a:p>
          <a:p>
            <a:r>
              <a:rPr lang="en-US" sz="3200" dirty="0"/>
              <a:t>Can keep up with ~5x output by vendor</a:t>
            </a:r>
          </a:p>
          <a:p>
            <a:r>
              <a:rPr lang="en-US" sz="3200" dirty="0"/>
              <a:t>Getty surfacing to RCV is not automatic</a:t>
            </a:r>
          </a:p>
        </p:txBody>
      </p:sp>
    </p:spTree>
    <p:extLst>
      <p:ext uri="{BB962C8B-B14F-4D97-AF65-F5344CB8AC3E}">
        <p14:creationId xmlns:p14="http://schemas.microsoft.com/office/powerpoint/2010/main" val="34384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86AD-B71B-377C-EFCC-90318AA2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Long-Running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D340-8220-D9FA-1A90-6B1B3BF7F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Hydra Queues in 3 Time Limits:</a:t>
            </a:r>
          </a:p>
          <a:p>
            <a:pPr lvl="1"/>
            <a:r>
              <a:rPr lang="en-US" sz="3200" dirty="0"/>
              <a:t>7 hours</a:t>
            </a:r>
          </a:p>
          <a:p>
            <a:pPr lvl="1"/>
            <a:r>
              <a:rPr lang="en-US" sz="3200" dirty="0"/>
              <a:t>6 days</a:t>
            </a:r>
          </a:p>
          <a:p>
            <a:pPr lvl="1"/>
            <a:r>
              <a:rPr lang="en-US" sz="3200" dirty="0"/>
              <a:t>30 days</a:t>
            </a:r>
          </a:p>
          <a:p>
            <a:r>
              <a:rPr lang="en-US" sz="3600" dirty="0" err="1"/>
              <a:t>OpenStreetMaps</a:t>
            </a:r>
            <a:r>
              <a:rPr lang="en-US" sz="3600" dirty="0"/>
              <a:t> </a:t>
            </a:r>
            <a:r>
              <a:rPr lang="en-US" dirty="0"/>
              <a:t>(from </a:t>
            </a:r>
            <a:r>
              <a:rPr lang="en-US" dirty="0" err="1"/>
              <a:t>Geofabrik</a:t>
            </a:r>
            <a:r>
              <a:rPr lang="en-US" dirty="0"/>
              <a:t>)</a:t>
            </a:r>
            <a:endParaRPr lang="en-US" sz="3600" dirty="0"/>
          </a:p>
          <a:p>
            <a:pPr lvl="1"/>
            <a:r>
              <a:rPr lang="en-US" sz="3200" dirty="0"/>
              <a:t>3 days to process all continents</a:t>
            </a:r>
          </a:p>
        </p:txBody>
      </p:sp>
    </p:spTree>
    <p:extLst>
      <p:ext uri="{BB962C8B-B14F-4D97-AF65-F5344CB8AC3E}">
        <p14:creationId xmlns:p14="http://schemas.microsoft.com/office/powerpoint/2010/main" val="217776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340E5528-C3E1-2C97-369D-C375374DF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954"/>
            <a:ext cx="12192000" cy="59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5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80621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1363</TotalTime>
  <Words>573</Words>
  <Application>Microsoft Office PowerPoint</Application>
  <PresentationFormat>Widescreen</PresentationFormat>
  <Paragraphs>110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Depth</vt:lpstr>
      <vt:lpstr>PowerPoint Presentation</vt:lpstr>
      <vt:lpstr>Timeline of DPO Work</vt:lpstr>
      <vt:lpstr>Turnaround by DPO</vt:lpstr>
      <vt:lpstr>“Slow” Script</vt:lpstr>
      <vt:lpstr>“Slow” Script Estimates in Parallel</vt:lpstr>
      <vt:lpstr>Daily Estimates for Production</vt:lpstr>
      <vt:lpstr>Daily Estimates</vt:lpstr>
      <vt:lpstr>Long-Running Scripts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of DPO Work</dc:title>
  <dc:creator>Villanueva, Luis</dc:creator>
  <cp:lastModifiedBy>Villanueva, Luis</cp:lastModifiedBy>
  <cp:revision>14</cp:revision>
  <dcterms:created xsi:type="dcterms:W3CDTF">2024-03-13T19:49:26Z</dcterms:created>
  <dcterms:modified xsi:type="dcterms:W3CDTF">2024-03-25T15:12:05Z</dcterms:modified>
</cp:coreProperties>
</file>